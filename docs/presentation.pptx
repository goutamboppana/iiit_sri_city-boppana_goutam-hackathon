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Simulated return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5F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Broad sell-off</c:v>
                  </c:pt>
                  <c:pt idx="1">
                    <c:v>Rates / inflation</c:v>
                  </c:pt>
                  <c:pt idx="2">
                    <c:v>Geopolitical / energy</c:v>
                  </c:pt>
                  <c:pt idx="3">
                    <c:v>Credit stress</c:v>
                  </c:pt>
                  <c:pt idx="4">
                    <c:v>Tech shock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-18</c:v>
                </c:pt>
                <c:pt idx="1">
                  <c:v>-20.15</c:v>
                </c:pt>
                <c:pt idx="2">
                  <c:v>-17.16</c:v>
                </c:pt>
                <c:pt idx="3">
                  <c:v>-28.26</c:v>
                </c:pt>
                <c:pt idx="4">
                  <c:v>-26.42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1F5F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Candidate details follow the requested hackathon submission format. The demo video is hosted on YouTube as an unlisted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Workflow: unstructured text -&gt; NLP analysis -&gt; structured signals -&gt; Module A rebalancing and Module B stress testing. The stress tab runs on the final rebalanced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generated from the project architecture: src/ingest.py -&gt; src/engine.py -&gt; src/impact.py -&gt; src/run_engine.py and src/schema.py -&gt; data/signals.csv -&gt; src/rebalance.py and src/stress.py -&gt; app.py.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Formulas reflect src/impact.py and src/rebalance.py. Dashboard defaults: sensitivity 1.5, decay 0.05, maximum weight 0.15 and minimum weight 0.01. Five network-dependent tests require Hugging Face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Committed data/signals.csv has 129 rows: 76 tweets from 2021–2022 and 53 news headlines from 9 October 2026. The default dashboard produces 13 replay steps and 11 index stocks. NVDA changes by +2.17 percentage points and MSFT by -1.76 percentage points. These are simulated allocations, not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values are hypothetical sector shocks applied to Module A's final weights: market sell-off -18.00%, rate/inflation -20.15%, geopolitical/energy -17.16%, credit -28.26%, and technology -26.42%. They are arithmetic scenario estimates, not historical backtests or forecasts.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tweets from October 2021 to September 2022 and a batch of 53 news headlines from 9 October 2026. Event labels have not been scored against ground truth. The impact score is heuristic, Module A has no historical price backtest, and Module B uses hypothetical shocks.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Goutam Boppana  ·  IIIT Sri City  ·  S&amp;P Global &amp; Crisil Campus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 &amp; CRISIL CAMPUS HACKATHON 2026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109728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AI/NLP Risk Engine +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Index Rebalancer +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Stress Testing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NLP, tactical portfolio rebalancing and scenario stress testing in one explainable decision-support prototype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Name: </a:t>
            </a:r>
            <a:pPr indent="0" marL="0">
              <a:buNone/>
            </a:pPr>
            <a:r>
              <a:rPr lang="en-US" sz="13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Boppana Goutam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33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Email ID: </a:t>
            </a:r>
            <a:pPr indent="0" marL="0">
              <a:buNone/>
            </a:pPr>
            <a:r>
              <a:rPr lang="en-US" sz="13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goutam.b23@iiits.in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6268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Campus: </a:t>
            </a:r>
            <a:pPr indent="0" marL="0">
              <a:buNone/>
            </a:pPr>
            <a:r>
              <a:rPr lang="en-US" sz="13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Information Technology, Sri City</a:t>
            </a:r>
            <a:endParaRPr lang="en-US" sz="1300" dirty="0"/>
          </a:p>
        </p:txBody>
      </p:sp>
      <p:sp>
        <p:nvSpPr>
          <p:cNvPr id="8" name="Demo Video Link">
            <a:hlinkClick r:id="rIdundefined" tooltip=""/>
          </p:cNvPr>
          <p:cNvSpPr txBox="1"/>
          <p:nvPr/>
        </p:nvSpPr>
        <p:spPr>
          <a:xfrm>
            <a:off x="640080" y="508406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Video Link: </a:t>
            </a:r>
            <a:pPr indent="0" marL="0">
              <a:buNone/>
            </a:pPr>
            <a:r>
              <a:rPr lang="en-US" sz="130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https://youtu.be/91JTRFemLJA</a:t>
            </a:r>
            <a:endParaRPr lang="en-US" sz="1300" dirty="0"/>
          </a:p>
        </p:txBody>
      </p:sp>
      <p:sp>
        <p:nvSpPr>
          <p:cNvPr id="9" name="Slide Deck Link"/>
          <p:cNvSpPr txBox="1"/>
          <p:nvPr/>
        </p:nvSpPr>
        <p:spPr>
          <a:xfrm>
            <a:off x="640080" y="545896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 Link: </a:t>
            </a:r>
            <a:pPr indent="0" marL="0">
              <a:buNone/>
            </a:pPr>
            <a:r>
              <a:rPr lang="en-US" sz="13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hosted externally</a:t>
            </a:r>
            <a:endParaRPr lang="en-US" sz="1300" dirty="0"/>
          </a:p>
        </p:txBody>
      </p:sp>
      <p:sp>
        <p:nvSpPr>
          <p:cNvPr id="10" name="Flow 1"/>
          <p:cNvSpPr/>
          <p:nvPr/>
        </p:nvSpPr>
        <p:spPr>
          <a:xfrm>
            <a:off x="8321040" y="9144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22225">
            <a:solidFill>
              <a:srgbClr val="94A3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10241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text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138988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headlines · stock tweets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06940" y="1874520"/>
            <a:ext cx="274320" cy="256032"/>
          </a:xfrm>
          <a:prstGeom prst="downArrow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" name="Flow 2"/>
          <p:cNvSpPr/>
          <p:nvPr/>
        </p:nvSpPr>
        <p:spPr>
          <a:xfrm>
            <a:off x="8321040" y="217627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2286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risk signals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65176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· BART-MNLI · impact score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06940" y="3136392"/>
            <a:ext cx="274320" cy="256032"/>
          </a:xfrm>
          <a:prstGeom prst="downArrow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" name="Flow 3"/>
          <p:cNvSpPr/>
          <p:nvPr/>
        </p:nvSpPr>
        <p:spPr>
          <a:xfrm>
            <a:off x="8321040" y="3438144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22225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35478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A: index weights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91363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tilts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06940" y="4398264"/>
            <a:ext cx="274320" cy="256032"/>
          </a:xfrm>
          <a:prstGeom prst="downArrow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2" name="Flow 4"/>
          <p:cNvSpPr/>
          <p:nvPr/>
        </p:nvSpPr>
        <p:spPr>
          <a:xfrm>
            <a:off x="8321040" y="4700016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48097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B: stress tests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517550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shock scenarios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unstructured text to explainable signals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news and social commentary carry risk information, but turning noisy, unstructured text into consistent, explainable portfolio signals is hard.</a:t>
            </a:r>
            <a:endParaRPr lang="en-US" sz="1800" dirty="0"/>
          </a:p>
        </p:txBody>
      </p:sp>
      <p:sp>
        <p:nvSpPr>
          <p:cNvPr id="4" name="Step 1"/>
          <p:cNvSpPr/>
          <p:nvPr/>
        </p:nvSpPr>
        <p:spPr>
          <a:xfrm>
            <a:off x="548640" y="21945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4213A"/>
          </a:solidFill>
          <a:ln w="22225">
            <a:solidFill>
              <a:srgbClr val="94A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3225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text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249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headlines · stock tweets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44952" y="2610612"/>
            <a:ext cx="320040" cy="310896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3438144" y="21945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4213A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5304" y="23225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analysis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27249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· event type · impact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34456" y="2610612"/>
            <a:ext cx="320040" cy="310896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2" name="Step 3"/>
          <p:cNvSpPr/>
          <p:nvPr/>
        </p:nvSpPr>
        <p:spPr>
          <a:xfrm>
            <a:off x="6327648" y="21945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4213A"/>
          </a:solidFill>
          <a:ln w="22225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23225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risk signals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7249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· sentiment · event · impact 1–10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23960" y="2610612"/>
            <a:ext cx="320040" cy="310896"/>
          </a:xfrm>
          <a:prstGeom prst="rightArrow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" name="Step 4"/>
          <p:cNvSpPr/>
          <p:nvPr/>
        </p:nvSpPr>
        <p:spPr>
          <a:xfrm>
            <a:off x="9217152" y="21945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4213A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54312" y="23225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354312" y="27249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+ stress testing</a:t>
            </a:r>
            <a:endParaRPr lang="en-US" sz="1300" dirty="0"/>
          </a:p>
        </p:txBody>
      </p:sp>
      <p:sp>
        <p:nvSpPr>
          <p:cNvPr id="19" name="Card demonstrates"/>
          <p:cNvSpPr/>
          <p:nvPr/>
        </p:nvSpPr>
        <p:spPr>
          <a:xfrm>
            <a:off x="548640" y="36118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4213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749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demonstrates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178808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becomes structured, searchable signals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tilt a mock index by transparent rules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weights face hypothetical shocks</a:t>
            </a:r>
            <a:endParaRPr lang="en-US" sz="1500" dirty="0"/>
          </a:p>
        </p:txBody>
      </p:sp>
      <p:sp>
        <p:nvSpPr>
          <p:cNvPr id="22" name="Card complement"/>
          <p:cNvSpPr/>
          <p:nvPr/>
        </p:nvSpPr>
        <p:spPr>
          <a:xfrm>
            <a:off x="6199632" y="36118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4213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8232" y="3749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modules complement each other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28232" y="4178808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asks: how should news shift weights?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asks: how fragile is the resulting portfolio?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stress-tests A's final rebalanced weights</a:t>
            </a:r>
            <a:endParaRPr lang="en-US" sz="1500" dirty="0"/>
          </a:p>
        </p:txBody>
      </p:sp>
      <p:sp>
        <p:nvSpPr>
          <p:cNvPr id="25" name="Prototype banner"/>
          <p:cNvSpPr txBox="1"/>
          <p:nvPr/>
        </p:nvSpPr>
        <p:spPr>
          <a:xfrm>
            <a:off x="548640" y="557784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for analyst decision support, not an autonomous trading system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one NLP pipeline, two modules</a:t>
            </a:r>
            <a:endParaRPr lang="en-US" sz="3400" dirty="0"/>
          </a:p>
        </p:txBody>
      </p:sp>
      <p:pic>
        <p:nvPicPr>
          <p:cNvPr id="3" name="Image 0" descr="Architecture diagram: sources, ingest and filter, FinBERT, zero-shot events, impact score, signal generation and store, Module A, Module B, Streamlit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8" y="1097280"/>
            <a:ext cx="10881360" cy="517528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highlights: signals to weights</a:t>
            </a:r>
            <a:endParaRPr lang="en-US" sz="3400" dirty="0"/>
          </a:p>
        </p:txBody>
      </p:sp>
      <p:sp>
        <p:nvSpPr>
          <p:cNvPr id="3" name="Badge 1"/>
          <p:cNvSpPr txBox="1"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23444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+ event, together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56362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direction and BART-MNLI category in one record</a:t>
            </a:r>
            <a:endParaRPr lang="en-US" sz="1400" dirty="0"/>
          </a:p>
        </p:txBody>
      </p:sp>
      <p:sp>
        <p:nvSpPr>
          <p:cNvPr id="6" name="Badge 2"/>
          <p:cNvSpPr txBox="1"/>
          <p:nvPr/>
        </p:nvSpPr>
        <p:spPr>
          <a:xfrm>
            <a:off x="548640" y="2029968"/>
            <a:ext cx="347472" cy="347472"/>
          </a:xfrm>
          <a:prstGeom prst="ellipse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5681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impact score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8600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Hand-set severity × sentiment × confidence; inspectable</a:t>
            </a:r>
            <a:endParaRPr lang="en-US" sz="1400" dirty="0"/>
          </a:p>
        </p:txBody>
      </p:sp>
      <p:sp>
        <p:nvSpPr>
          <p:cNvPr id="9" name="Badge 3"/>
          <p:cNvSpPr txBox="1"/>
          <p:nvPr/>
        </p:nvSpPr>
        <p:spPr>
          <a:xfrm>
            <a:off x="548640" y="2752344"/>
            <a:ext cx="347472" cy="347472"/>
          </a:xfrm>
          <a:prstGeom prst="ellipse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7919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Confidence-aware tickers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00837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tag &gt; cashtag &gt; name + finance; multi-ticker kept</a:t>
            </a:r>
            <a:endParaRPr lang="en-US" sz="1400" dirty="0"/>
          </a:p>
        </p:txBody>
      </p:sp>
      <p:sp>
        <p:nvSpPr>
          <p:cNvPr id="12" name="Badge 4"/>
          <p:cNvSpPr txBox="1"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40156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inputs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3075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filter and &gt;85% near-duplicate drop cut noise</a:t>
            </a:r>
            <a:endParaRPr lang="en-US" sz="1400" dirty="0"/>
          </a:p>
        </p:txBody>
      </p:sp>
      <p:sp>
        <p:nvSpPr>
          <p:cNvPr id="15" name="Badge 5"/>
          <p:cNvSpPr txBox="1"/>
          <p:nvPr/>
        </p:nvSpPr>
        <p:spPr>
          <a:xfrm>
            <a:off x="548640" y="4197096"/>
            <a:ext cx="347472" cy="347472"/>
          </a:xfrm>
          <a:prstGeom prst="ellipse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12394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expansion, two views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45312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display and rebalancer share signal expansion</a:t>
            </a:r>
            <a:endParaRPr lang="en-US" sz="1400" dirty="0"/>
          </a:p>
        </p:txBody>
      </p:sp>
      <p:sp>
        <p:nvSpPr>
          <p:cNvPr id="18" name="Badge 6"/>
          <p:cNvSpPr txBox="1"/>
          <p:nvPr/>
        </p:nvSpPr>
        <p:spPr>
          <a:xfrm>
            <a:off x="548640" y="4919472"/>
            <a:ext cx="347472" cy="347472"/>
          </a:xfrm>
          <a:prstGeom prst="ellipse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84632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time buckets, tunable knobs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17550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to year closest to 20 steps; sensitivity, decay, caps</a:t>
            </a:r>
            <a:endParaRPr lang="en-US" sz="1400" dirty="0"/>
          </a:p>
        </p:txBody>
      </p:sp>
      <p:sp>
        <p:nvSpPr>
          <p:cNvPr id="21" name="Badge 7"/>
          <p:cNvSpPr txBox="1"/>
          <p:nvPr/>
        </p:nvSpPr>
        <p:spPr>
          <a:xfrm>
            <a:off x="548640" y="5641848"/>
            <a:ext cx="347472" cy="347472"/>
          </a:xfrm>
          <a:prstGeom prst="ellipse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56869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and tested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89788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 before write; 87 offline unit tests pass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118872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→ weight (Module A)</a:t>
            </a:r>
            <a:endParaRPr lang="en-US" sz="1800" dirty="0"/>
          </a:p>
        </p:txBody>
      </p:sp>
      <p:sp>
        <p:nvSpPr>
          <p:cNvPr id="25" name="Formula 1"/>
          <p:cNvSpPr/>
          <p:nvPr/>
        </p:nvSpPr>
        <p:spPr>
          <a:xfrm>
            <a:off x="7726680" y="1691640"/>
            <a:ext cx="3913632" cy="1024128"/>
          </a:xfrm>
          <a:prstGeom prst="roundRect">
            <a:avLst>
              <a:gd name="adj" fmla="val 7143"/>
            </a:avLst>
          </a:prstGeom>
          <a:solidFill>
            <a:srgbClr val="14213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09560" y="178308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1–10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2057400"/>
            <a:ext cx="3593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× (0.5 + 0.5·|sent|)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(0.5 + 0.5·conf)</a:t>
            </a:r>
            <a:endParaRPr lang="en-US" sz="1200" dirty="0"/>
          </a:p>
        </p:txBody>
      </p:sp>
      <p:sp>
        <p:nvSpPr>
          <p:cNvPr id="28" name="Formula 2"/>
          <p:cNvSpPr/>
          <p:nvPr/>
        </p:nvSpPr>
        <p:spPr>
          <a:xfrm>
            <a:off x="7726680" y="2834640"/>
            <a:ext cx="3913632" cy="1024128"/>
          </a:xfrm>
          <a:prstGeom prst="roundRect">
            <a:avLst>
              <a:gd name="adj" fmla="val 7143"/>
            </a:avLst>
          </a:prstGeom>
          <a:solidFill>
            <a:srgbClr val="14213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09560" y="292608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SIGNAL, PER STOCK/STEP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3200400"/>
            <a:ext cx="3593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sentiment × impact /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clipped to ±2</a:t>
            </a:r>
            <a:endParaRPr lang="en-US" sz="1200" dirty="0"/>
          </a:p>
        </p:txBody>
      </p:sp>
      <p:sp>
        <p:nvSpPr>
          <p:cNvPr id="31" name="Formula 3"/>
          <p:cNvSpPr/>
          <p:nvPr/>
        </p:nvSpPr>
        <p:spPr>
          <a:xfrm>
            <a:off x="7726680" y="3977640"/>
            <a:ext cx="3913632" cy="1024128"/>
          </a:xfrm>
          <a:prstGeom prst="roundRect">
            <a:avLst>
              <a:gd name="adj" fmla="val 7143"/>
            </a:avLst>
          </a:prstGeom>
          <a:solidFill>
            <a:srgbClr val="14213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09560" y="406908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909560" y="4343400"/>
            <a:ext cx="3593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← w · exp(1.5 × net signal)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normalise to 100%</a:t>
            </a:r>
            <a:endParaRPr lang="en-US" sz="1200" dirty="0"/>
          </a:p>
        </p:txBody>
      </p:sp>
      <p:sp>
        <p:nvSpPr>
          <p:cNvPr id="34" name="Formula 4"/>
          <p:cNvSpPr/>
          <p:nvPr/>
        </p:nvSpPr>
        <p:spPr>
          <a:xfrm>
            <a:off x="7726680" y="5120640"/>
            <a:ext cx="3913632" cy="1024128"/>
          </a:xfrm>
          <a:prstGeom prst="roundRect">
            <a:avLst>
              <a:gd name="adj" fmla="val 7143"/>
            </a:avLst>
          </a:prstGeom>
          <a:solidFill>
            <a:srgbClr val="14213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09560" y="521208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+ LIMITS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909560" y="5486400"/>
            <a:ext cx="3593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0.95·tilt + 0.05·w₀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 each weight to 1%–15%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726680" y="6199632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shown (sensitivity 1.5, decay 0.05); sliders adjust them.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verifiable prototype outputs</a:t>
            </a:r>
            <a:endParaRPr lang="en-US" sz="3400" dirty="0"/>
          </a:p>
        </p:txBody>
      </p:sp>
      <p:pic>
        <p:nvPicPr>
          <p:cNvPr id="3" name="Image 0" descr="Dashboard screenshot: weight changes from start to now for 11 stocks; NVDA +2.17 points, MSFT -1.76 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309360" cy="44056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0412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dashboard, Portfolio Overview. Committed data/signals.csv, default parameters. Weight changes are simulated tilts, not returns.</a:t>
            </a:r>
            <a:endParaRPr lang="en-US" sz="1200" dirty="0"/>
          </a:p>
        </p:txBody>
      </p:sp>
      <p:sp>
        <p:nvSpPr>
          <p:cNvPr id="5" name="Stat 1"/>
          <p:cNvSpPr/>
          <p:nvPr/>
        </p:nvSpPr>
        <p:spPr>
          <a:xfrm>
            <a:off x="7178040" y="1188720"/>
            <a:ext cx="4462272" cy="1097280"/>
          </a:xfrm>
          <a:prstGeom prst="roundRect">
            <a:avLst>
              <a:gd name="adj" fmla="val 6667"/>
            </a:avLst>
          </a:prstGeom>
          <a:solidFill>
            <a:srgbClr val="14213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0" y="128016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12801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accuracy, 0.63 macro-F1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model, 300 validation tweets</a:t>
            </a:r>
            <a:endParaRPr lang="en-US" sz="1500" dirty="0"/>
          </a:p>
        </p:txBody>
      </p:sp>
      <p:sp>
        <p:nvSpPr>
          <p:cNvPr id="8" name="Stat 2"/>
          <p:cNvSpPr/>
          <p:nvPr/>
        </p:nvSpPr>
        <p:spPr>
          <a:xfrm>
            <a:off x="7178040" y="2414016"/>
            <a:ext cx="4462272" cy="1097280"/>
          </a:xfrm>
          <a:prstGeom prst="roundRect">
            <a:avLst>
              <a:gd name="adj" fmla="val 6667"/>
            </a:avLst>
          </a:prstGeom>
          <a:solidFill>
            <a:srgbClr val="14213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2505456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2505456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in the committed dataset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tweets (Oct 2021–Sep 2022) + 53 headlines (9 Oct 2026)</a:t>
            </a:r>
            <a:endParaRPr lang="en-US" sz="1500" dirty="0"/>
          </a:p>
        </p:txBody>
      </p:sp>
      <p:sp>
        <p:nvSpPr>
          <p:cNvPr id="11" name="Stat 3"/>
          <p:cNvSpPr/>
          <p:nvPr/>
        </p:nvSpPr>
        <p:spPr>
          <a:xfrm>
            <a:off x="7178040" y="3639312"/>
            <a:ext cx="4462272" cy="1097280"/>
          </a:xfrm>
          <a:prstGeom prst="roundRect">
            <a:avLst>
              <a:gd name="adj" fmla="val 6667"/>
            </a:avLst>
          </a:prstGeom>
          <a:solidFill>
            <a:srgbClr val="14213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0" y="3730752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3730752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replay steps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signals move 11 stocks: NVDA +2.17 pp, MSFT −1.76 pp</a:t>
            </a:r>
            <a:endParaRPr lang="en-US" sz="1500" dirty="0"/>
          </a:p>
        </p:txBody>
      </p:sp>
      <p:sp>
        <p:nvSpPr>
          <p:cNvPr id="14" name="Stat 4"/>
          <p:cNvSpPr/>
          <p:nvPr/>
        </p:nvSpPr>
        <p:spPr>
          <a:xfrm>
            <a:off x="7178040" y="4864608"/>
            <a:ext cx="4462272" cy="1097280"/>
          </a:xfrm>
          <a:prstGeom prst="roundRect">
            <a:avLst>
              <a:gd name="adj" fmla="val 6667"/>
            </a:avLst>
          </a:prstGeom>
          <a:solidFill>
            <a:srgbClr val="14213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0" y="4956048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4956048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 offline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more tests need network access to load data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impact: explainable decision support</a:t>
            </a:r>
            <a:endParaRPr lang="en-US" sz="3400" dirty="0"/>
          </a:p>
        </p:txBody>
      </p:sp>
      <p:sp>
        <p:nvSpPr>
          <p:cNvPr id="3" name="Badge 1"/>
          <p:cNvSpPr txBox="1"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2344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searchable signals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5727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becomes ticker, sentiment, event and impact fields</a:t>
            </a:r>
            <a:endParaRPr lang="en-US" sz="1400" dirty="0"/>
          </a:p>
        </p:txBody>
      </p:sp>
      <p:sp>
        <p:nvSpPr>
          <p:cNvPr id="6" name="Badge 2"/>
          <p:cNvSpPr txBox="1"/>
          <p:nvPr/>
        </p:nvSpPr>
        <p:spPr>
          <a:xfrm>
            <a:off x="548640" y="2039112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659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by design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0428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trace each weight move to its source signals</a:t>
            </a:r>
            <a:endParaRPr lang="en-US" sz="1400" dirty="0"/>
          </a:p>
        </p:txBody>
      </p:sp>
      <p:sp>
        <p:nvSpPr>
          <p:cNvPr id="9" name="Badge 3"/>
          <p:cNvSpPr txBox="1"/>
          <p:nvPr/>
        </p:nvSpPr>
        <p:spPr>
          <a:xfrm>
            <a:off x="548640" y="2770632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974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News-aware mock index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03580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tilts show how sentiment could shift weights</a:t>
            </a:r>
            <a:endParaRPr lang="en-US" sz="1400" dirty="0"/>
          </a:p>
        </p:txBody>
      </p:sp>
      <p:sp>
        <p:nvSpPr>
          <p:cNvPr id="12" name="Badge 4"/>
          <p:cNvSpPr txBox="1"/>
          <p:nvPr/>
        </p:nvSpPr>
        <p:spPr>
          <a:xfrm>
            <a:off x="548640" y="3502152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4290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sensitivity testing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6732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scenarios run on the rebalanced portfolio</a:t>
            </a:r>
            <a:endParaRPr lang="en-US" sz="1400" dirty="0"/>
          </a:p>
        </p:txBody>
      </p:sp>
      <p:sp>
        <p:nvSpPr>
          <p:cNvPr id="15" name="Badge 5"/>
          <p:cNvSpPr txBox="1"/>
          <p:nvPr/>
        </p:nvSpPr>
        <p:spPr>
          <a:xfrm>
            <a:off x="548640" y="4233672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1605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risk sits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49884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comparison, sector and holding attribution</a:t>
            </a:r>
            <a:endParaRPr lang="en-US" sz="1400" dirty="0"/>
          </a:p>
        </p:txBody>
      </p:sp>
      <p:sp>
        <p:nvSpPr>
          <p:cNvPr id="18" name="Deployment caveat"/>
          <p:cNvSpPr/>
          <p:nvPr/>
        </p:nvSpPr>
        <p:spPr>
          <a:xfrm>
            <a:off x="548640" y="5120640"/>
            <a:ext cx="6492240" cy="1097280"/>
          </a:xfrm>
          <a:prstGeom prst="roundRect">
            <a:avLst>
              <a:gd name="adj" fmla="val 6667"/>
            </a:avLst>
          </a:prstGeom>
          <a:solidFill>
            <a:srgbClr val="1421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212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real deployment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validation, reliable data feeds, risk controls, market-data calibration</a:t>
            </a:r>
            <a:endParaRPr lang="en-US" sz="1600" dirty="0"/>
          </a:p>
        </p:txBody>
      </p:sp>
      <p:sp>
        <p:nvSpPr>
          <p:cNvPr id="20" name="Chart panel"/>
          <p:cNvSpPr/>
          <p:nvPr/>
        </p:nvSpPr>
        <p:spPr>
          <a:xfrm>
            <a:off x="7360920" y="1188720"/>
            <a:ext cx="4279392" cy="5029200"/>
          </a:xfrm>
          <a:prstGeom prst="roundRect">
            <a:avLst>
              <a:gd name="adj" fmla="val 1709"/>
            </a:avLst>
          </a:prstGeom>
          <a:solidFill>
            <a:srgbClr val="14213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129844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portfolio impact by scenario</a:t>
            </a:r>
            <a:endParaRPr lang="en-US" sz="16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452360" y="1691640"/>
          <a:ext cx="4096512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7543800" y="5212080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sector shocks applied to Module A's final weights (11 stocks). Not historical losses, forecasts or calibrated estimates.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boundaries and roadmap</a:t>
            </a:r>
            <a:endParaRPr lang="en-US" sz="3400" dirty="0"/>
          </a:p>
        </p:txBody>
      </p:sp>
      <p:graphicFrame>
        <p:nvGraphicFramePr>
          <p:cNvPr id="8" name="Limi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50566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boundary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checked on 300 tweets; event labels not scored against ground truth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FE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labeled evaluation for sentiment and event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weights are hand-chosen heuristics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FE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impact to observed market reactions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 matching is keyword-based and can misattribute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FE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 entity resolution and ticker attribution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A has no historical price backtest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FE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Market-data integration and walk-forward backtesting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B shocks are hypothetical, with no volatility or correlation calibration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FE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risk parameters on historical market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Sparse, gapped data: tweets Oct 2021–Sep 2022, then 53 headlines from one 45-minute window in Oct 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FE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multi-source feed, data-quality monitoring, reproducible evaluation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A"/>
                    </a:solidFill>
                  </a:tcPr>
                </a:tc>
              </a:tr>
            </a:tbl>
          </a:graphicData>
        </a:graphic>
      </p:graphicFrame>
      <p:sp>
        <p:nvSpPr>
          <p:cNvPr id="4" name="Takeaway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4213A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that connects financial NLP to explainable portfolio decision-support workflows.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AI/NLP Risk Engine + Tactical Index Rebalancer + Portfolio Stress Testing</dc:title>
  <dc:subject>S&amp;P Global &amp; Crisil Campus Hackathon 2026</dc:subject>
  <dc:creator>Goutam Boppana</dc:creator>
  <cp:lastModifiedBy>Goutam Boppana</cp:lastModifiedBy>
  <cp:revision>1</cp:revision>
  <dcterms:created xsi:type="dcterms:W3CDTF">2026-10-11T10:25:37Z</dcterms:created>
  <dcterms:modified xsi:type="dcterms:W3CDTF">2026-10-11T10:25:37Z</dcterms:modified>
</cp:coreProperties>
</file>